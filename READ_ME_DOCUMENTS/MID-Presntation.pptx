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2:16:15.8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0 589 24575,'35'-14'0,"0"2"0,0 1 0,59-10 0,-52 12 0,545-125 0,-256 36 0,-308 91 0,117-32 0,26-9 0,-81 21 0,137-24 0,-108 28 0,24-20 0,-80 26 0,-37 9 0,1 2 0,38-6 0,-31 6-1365,-18 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2:16:18.9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97 0 24575,'-14'70'0,"10"-32"0,-2-1 0,-14 46 0,10-42 0,-9 11 0,14-42 0,1 0 0,0 0 0,1 0 0,0 0 0,-1 13 0,3-20 0,1 0 0,0 0 0,0 0 0,1 0 0,-1 0 0,0 0 0,1 0 0,0 0 0,0 0 0,0 0 0,0 0 0,1 0 0,-1 0 0,1 0 0,-1-1 0,1 1 0,0-1 0,0 1 0,0-1 0,0 0 0,1 0 0,2 2 0,20 17 0,1-2 0,0-1 0,49 25 0,-25-17 0,-35-17 0,1 0 0,0-2 0,0 0 0,1 0 0,24 5 0,-38-12-124,-1 1 0,1 0 0,-1 0 0,1 0 0,-1 0 0,0 0-1,0 1 1,0-1 0,0 1 0,2 1 0,3 2-6702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B115D-6610-4031-914B-D2F996BDD885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4DE85-BD24-4C21-8E16-666E525E96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725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E2DAC-8BEA-5228-F0AE-5374246CB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19CE2-CDD7-A80C-A017-0B0C8D4A2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544CA-7371-FA37-2F11-B3FED9A1F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30D14-0076-79BF-74BF-CF7A45D6A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136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45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10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24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90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823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61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203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33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141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B599F-1556-44B2-8907-7C626B3A8950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911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475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1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18B599F-1556-44B2-8907-7C626B3A8950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14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22360-26DB-E543-82E1-61236AFB7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47665"/>
            <a:ext cx="12192000" cy="2884999"/>
          </a:xfrm>
        </p:spPr>
        <p:txBody>
          <a:bodyPr>
            <a:normAutofit/>
          </a:bodyPr>
          <a:lstStyle/>
          <a:p>
            <a:r>
              <a:rPr lang="en-IN" sz="6000" b="1" kern="100" baseline="-250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A RAG-Powered Chatbot for CyberArk API Documentation</a:t>
            </a:r>
            <a:endParaRPr lang="en-IN" sz="9600" baseline="-25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BA68D-1050-DBC6-777D-A62D085F80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Saya, Venkata Thrivedi – 2023aa05203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807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2494EA-CADC-3C5F-6D19-2C18D63B6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668"/>
            <a:ext cx="7729728" cy="1188720"/>
          </a:xfrm>
        </p:spPr>
        <p:txBody>
          <a:bodyPr/>
          <a:lstStyle/>
          <a:p>
            <a:r>
              <a:rPr lang="en-US" dirty="0"/>
              <a:t>Architecture Diagram</a:t>
            </a:r>
            <a:endParaRPr lang="en-IN" dirty="0"/>
          </a:p>
        </p:txBody>
      </p:sp>
      <p:pic>
        <p:nvPicPr>
          <p:cNvPr id="7" name="Content Placeholder 6" descr="A diagram of a diagram">
            <a:extLst>
              <a:ext uri="{FF2B5EF4-FFF2-40B4-BE49-F238E27FC236}">
                <a16:creationId xmlns:a16="http://schemas.microsoft.com/office/drawing/2014/main" id="{47A09CE9-4306-075D-0860-1D24259A2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39" y="1808480"/>
            <a:ext cx="11445402" cy="4892971"/>
          </a:xfrm>
        </p:spPr>
      </p:pic>
    </p:spTree>
    <p:extLst>
      <p:ext uri="{BB962C8B-B14F-4D97-AF65-F5344CB8AC3E}">
        <p14:creationId xmlns:p14="http://schemas.microsoft.com/office/powerpoint/2010/main" val="407225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0BB9B-A8A3-749A-FCF2-15B8C0C2B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866640" cy="1188720"/>
          </a:xfrm>
        </p:spPr>
        <p:txBody>
          <a:bodyPr>
            <a:normAutofit/>
          </a:bodyPr>
          <a:lstStyle/>
          <a:p>
            <a:r>
              <a:rPr lang="en-US" sz="2400" dirty="0"/>
              <a:t>Step-1 : Data Collection 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1C38C4-81C4-A3E4-79E9-4A67B67CF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06" y="1694570"/>
            <a:ext cx="3551228" cy="1729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F9D55B-AE38-9CA6-F2AB-FEDCFE758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743" y="0"/>
            <a:ext cx="5307497" cy="68489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0EE4B9-2600-D08B-02EB-D928896E23BE}"/>
              </a:ext>
            </a:extLst>
          </p:cNvPr>
          <p:cNvSpPr txBox="1"/>
          <p:nvPr/>
        </p:nvSpPr>
        <p:spPr>
          <a:xfrm>
            <a:off x="2839274" y="4978764"/>
            <a:ext cx="3679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Sample YAML file for an Endpoint  =&gt;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69F9B15-3B2E-0BF9-DDF8-B67634B3839D}"/>
                  </a:ext>
                </a:extLst>
              </p14:cNvPr>
              <p14:cNvContentPartPr/>
              <p14:nvPr/>
            </p14:nvContentPartPr>
            <p14:xfrm>
              <a:off x="3916480" y="2378840"/>
              <a:ext cx="809280" cy="212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69F9B15-3B2E-0BF9-DDF8-B67634B383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10360" y="2372720"/>
                <a:ext cx="8215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7E67C70-F706-3337-7B76-B76B9AE161EF}"/>
                  </a:ext>
                </a:extLst>
              </p14:cNvPr>
              <p14:cNvContentPartPr/>
              <p14:nvPr/>
            </p14:nvContentPartPr>
            <p14:xfrm>
              <a:off x="3917200" y="2443280"/>
              <a:ext cx="139680" cy="236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7E67C70-F706-3337-7B76-B76B9AE161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11080" y="2437160"/>
                <a:ext cx="151920" cy="24876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5CBF795-7DA7-6698-A02D-66AF42CBBD5D}"/>
              </a:ext>
            </a:extLst>
          </p:cNvPr>
          <p:cNvSpPr txBox="1"/>
          <p:nvPr/>
        </p:nvSpPr>
        <p:spPr>
          <a:xfrm>
            <a:off x="4639787" y="2115528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OpenAPI Spec File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2764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3ADDE-B0AE-931C-E1D7-6692F600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91760" cy="1188720"/>
          </a:xfrm>
        </p:spPr>
        <p:txBody>
          <a:bodyPr/>
          <a:lstStyle/>
          <a:p>
            <a:r>
              <a:rPr lang="en-US" dirty="0"/>
              <a:t>Step-2 Data Processing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CC4C6-D32F-F6B1-F300-6E95BFF37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242" y="344476"/>
            <a:ext cx="3795089" cy="1546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DBC2DD-E679-2BD1-EF88-196EDC3E8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1942306"/>
            <a:ext cx="3325767" cy="49156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74926D-98DC-74DF-12D8-D983CBDB1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760" y="2081245"/>
            <a:ext cx="5278275" cy="44322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FB9692-5689-14F4-C25E-3E86D304E29D}"/>
              </a:ext>
            </a:extLst>
          </p:cNvPr>
          <p:cNvSpPr txBox="1"/>
          <p:nvPr/>
        </p:nvSpPr>
        <p:spPr>
          <a:xfrm>
            <a:off x="3907866" y="4500880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=&gt; =&gt; =&gt; =&gt; =&gt; 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10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003C5-6665-4734-9181-538351717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29728" cy="1188720"/>
          </a:xfrm>
        </p:spPr>
        <p:txBody>
          <a:bodyPr/>
          <a:lstStyle/>
          <a:p>
            <a:r>
              <a:rPr lang="en-US" dirty="0"/>
              <a:t>Step-3 Data Enrichment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6EA2CA-B376-09E6-03E6-7A068FAAC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6506" y="523522"/>
            <a:ext cx="2697714" cy="54563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E09515-5B7F-AB27-C21E-ED411D958DDC}"/>
              </a:ext>
            </a:extLst>
          </p:cNvPr>
          <p:cNvSpPr txBox="1"/>
          <p:nvPr/>
        </p:nvSpPr>
        <p:spPr>
          <a:xfrm>
            <a:off x="6949440" y="6334478"/>
            <a:ext cx="31422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SLM used is Ollama3.2:latest</a:t>
            </a:r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A9E829-2C54-B529-D6E9-E7B90FC37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8" y="1215601"/>
            <a:ext cx="6707370" cy="559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13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ADF55F-017E-E228-40CC-A26ECEDE1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47" y="0"/>
            <a:ext cx="105341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04BE8F-06DD-2507-4FD5-4CEEF87E1673}"/>
              </a:ext>
            </a:extLst>
          </p:cNvPr>
          <p:cNvSpPr txBox="1"/>
          <p:nvPr/>
        </p:nvSpPr>
        <p:spPr>
          <a:xfrm>
            <a:off x="8219440" y="6136640"/>
            <a:ext cx="3271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Enriched Text File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9212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70AD4-E964-E1B3-4878-CDBBAC30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EF828-2762-7360-6126-60DACEB9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29728" cy="1188720"/>
          </a:xfrm>
        </p:spPr>
        <p:txBody>
          <a:bodyPr/>
          <a:lstStyle/>
          <a:p>
            <a:r>
              <a:rPr lang="en-US" dirty="0"/>
              <a:t>Step-4 Embedding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DEC71E-D3A6-EA27-4473-3F6FC32C6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309" y="446891"/>
            <a:ext cx="2103302" cy="3444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DAA73-1664-C0ED-A065-90365B32D689}"/>
              </a:ext>
            </a:extLst>
          </p:cNvPr>
          <p:cNvSpPr txBox="1"/>
          <p:nvPr/>
        </p:nvSpPr>
        <p:spPr>
          <a:xfrm>
            <a:off x="270588" y="1604865"/>
            <a:ext cx="892006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Studied 3 different type of embedding models</a:t>
            </a:r>
          </a:p>
          <a:p>
            <a:r>
              <a:rPr lang="en-US" sz="1600" dirty="0"/>
              <a:t>	</a:t>
            </a:r>
          </a:p>
          <a:p>
            <a:r>
              <a:rPr lang="en-US" dirty="0" err="1"/>
              <a:t>Ollama</a:t>
            </a:r>
            <a:r>
              <a:rPr lang="en-US" dirty="0"/>
              <a:t> =&gt; </a:t>
            </a:r>
            <a:r>
              <a:rPr lang="en-IN" dirty="0" err="1"/>
              <a:t>nomic-embed-text:latest</a:t>
            </a:r>
            <a:endParaRPr lang="en-IN" dirty="0"/>
          </a:p>
          <a:p>
            <a:r>
              <a:rPr lang="en-IN" sz="1600" dirty="0"/>
              <a:t>	- 768 dimensions</a:t>
            </a:r>
          </a:p>
          <a:p>
            <a:endParaRPr lang="en-IN" sz="1600" dirty="0"/>
          </a:p>
          <a:p>
            <a:r>
              <a:rPr lang="en-IN" dirty="0" err="1"/>
              <a:t>Ollama</a:t>
            </a:r>
            <a:r>
              <a:rPr lang="en-IN" dirty="0"/>
              <a:t> =&gt; bge-m3:567m</a:t>
            </a:r>
          </a:p>
          <a:p>
            <a:r>
              <a:rPr lang="en-IN" sz="1600" dirty="0"/>
              <a:t>	- 1024 dimensions</a:t>
            </a:r>
          </a:p>
          <a:p>
            <a:endParaRPr lang="en-IN" sz="1600" dirty="0"/>
          </a:p>
          <a:p>
            <a:r>
              <a:rPr lang="en-IN" dirty="0" err="1"/>
              <a:t>HuggingFace</a:t>
            </a:r>
            <a:r>
              <a:rPr lang="en-IN" dirty="0"/>
              <a:t> =&gt; all-MiniLM-L6-v2</a:t>
            </a:r>
          </a:p>
          <a:p>
            <a:r>
              <a:rPr lang="en-IN" sz="1600" dirty="0"/>
              <a:t>	- 384 dimensions</a:t>
            </a:r>
          </a:p>
          <a:p>
            <a:endParaRPr lang="en-IN" sz="1600" dirty="0"/>
          </a:p>
          <a:p>
            <a:r>
              <a:rPr lang="en-IN" dirty="0"/>
              <a:t>Observation</a:t>
            </a:r>
            <a:r>
              <a:rPr lang="en-IN" sz="1600" dirty="0"/>
              <a:t>: even though `all-MiniLM-L6-V2` has less dimensions, it is able to capture </a:t>
            </a:r>
            <a:r>
              <a:rPr lang="en-US" sz="1600" dirty="0"/>
              <a:t>the best balance between retrieval quality and performance for API documentation use case.</a:t>
            </a:r>
            <a:r>
              <a:rPr lang="en-IN" sz="1600" dirty="0"/>
              <a:t> </a:t>
            </a:r>
          </a:p>
          <a:p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53D363-A6AE-7D23-3093-F162D5DCF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079743"/>
            <a:ext cx="6096000" cy="177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38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6743D-5E74-33E6-793B-16114A8DC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29728" cy="1188720"/>
          </a:xfrm>
        </p:spPr>
        <p:txBody>
          <a:bodyPr/>
          <a:lstStyle/>
          <a:p>
            <a:r>
              <a:rPr lang="en-US" dirty="0"/>
              <a:t>Step-4 Embedding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EC386-0DE0-A312-4509-ECE9C1BCA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309" y="446891"/>
            <a:ext cx="2103302" cy="3444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21614-88FA-AC5D-5D56-07B4C2E07630}"/>
              </a:ext>
            </a:extLst>
          </p:cNvPr>
          <p:cNvSpPr txBox="1"/>
          <p:nvPr/>
        </p:nvSpPr>
        <p:spPr>
          <a:xfrm>
            <a:off x="270588" y="1604865"/>
            <a:ext cx="8920065" cy="423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Embedding used </a:t>
            </a:r>
            <a:r>
              <a:rPr lang="en-US" dirty="0"/>
              <a:t>: </a:t>
            </a:r>
            <a:r>
              <a:rPr lang="en-US" sz="1600" dirty="0"/>
              <a:t>HuggingFaceEmbedding - </a:t>
            </a:r>
            <a:r>
              <a:rPr lang="en-IN" sz="1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all-MiniLM-L6-v2 – </a:t>
            </a:r>
            <a:r>
              <a:rPr lang="en-IN" sz="1600" dirty="0"/>
              <a:t>384 dimensional </a:t>
            </a:r>
            <a:r>
              <a:rPr lang="en-IN" sz="1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sz="1600" b="1" dirty="0">
              <a:solidFill>
                <a:srgbClr val="A31515"/>
              </a:solidFill>
              <a:effectLst/>
              <a:latin typeface="Consolas" panose="020B0609020204030204" pitchFamily="49" charset="0"/>
            </a:endParaRPr>
          </a:p>
          <a:p>
            <a:endParaRPr lang="en-IN" sz="1600" b="1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latin typeface="+mj-lt"/>
              </a:rPr>
              <a:t>Vector Store used </a:t>
            </a:r>
            <a:r>
              <a:rPr lang="en-IN" dirty="0"/>
              <a:t>: </a:t>
            </a:r>
            <a:r>
              <a:rPr lang="en-IN" sz="1600" dirty="0"/>
              <a:t>FAISS (Facebook AI Similarity Search)</a:t>
            </a:r>
          </a:p>
          <a:p>
            <a:endParaRPr lang="en-IN" sz="1600" dirty="0"/>
          </a:p>
          <a:p>
            <a:r>
              <a:rPr lang="en-IN" sz="1600" dirty="0"/>
              <a:t>--------------------------------------------------------------------------------------------------------------------------------------</a:t>
            </a:r>
          </a:p>
          <a:p>
            <a:endParaRPr lang="en-IN" sz="16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600" dirty="0"/>
              <a:t>Use the Enriched Data as document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600" dirty="0"/>
              <a:t>Used text splitter to split the document ( ChunkSize : 1000 (balanced granularity) ; Overlap : 100 )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600" dirty="0"/>
              <a:t>As documents are individual for each endpoint, it is made sure that there is no overlap between the documents and overlap is within the documents.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600" dirty="0"/>
              <a:t>Once Embedding are generated, they are stored in local to save compute and reuse quickly.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600" dirty="0"/>
              <a:t>FAISS is used as a vector store, which </a:t>
            </a:r>
            <a:r>
              <a:rPr lang="en-US" sz="1600" dirty="0"/>
              <a:t>is an open-source library designed for efficient similarity search and clustering of dense vectors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24045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382B4-9985-63A2-E00F-8165D9145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29728" cy="1188720"/>
          </a:xfrm>
        </p:spPr>
        <p:txBody>
          <a:bodyPr/>
          <a:lstStyle/>
          <a:p>
            <a:r>
              <a:rPr lang="en-US" dirty="0"/>
              <a:t>Step-5 Retrieval and generation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188C9-409E-E7B3-5D37-6C175D153D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0" t="7567" r="3451" b="6243"/>
          <a:stretch/>
        </p:blipFill>
        <p:spPr>
          <a:xfrm>
            <a:off x="8024325" y="793102"/>
            <a:ext cx="3676263" cy="19967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F69FFD-86DF-5979-E24C-4259A0247C23}"/>
              </a:ext>
            </a:extLst>
          </p:cNvPr>
          <p:cNvSpPr txBox="1"/>
          <p:nvPr/>
        </p:nvSpPr>
        <p:spPr>
          <a:xfrm>
            <a:off x="163285" y="867746"/>
            <a:ext cx="7403157" cy="2161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IN" sz="2000" dirty="0"/>
              <a:t>SLM used </a:t>
            </a:r>
            <a:r>
              <a:rPr lang="en-IN" dirty="0"/>
              <a:t>: </a:t>
            </a:r>
            <a:r>
              <a:rPr lang="en-IN" sz="1600" dirty="0"/>
              <a:t>Ollama3.2:latest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Retriever details: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Compared the below type of retrievers: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Observation: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62BEA2-A0BD-88B8-99D0-5A1ED5A17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041562"/>
              </p:ext>
            </p:extLst>
          </p:nvPr>
        </p:nvGraphicFramePr>
        <p:xfrm>
          <a:off x="163285" y="3191069"/>
          <a:ext cx="11649270" cy="29257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3988">
                  <a:extLst>
                    <a:ext uri="{9D8B030D-6E8A-4147-A177-3AD203B41FA5}">
                      <a16:colId xmlns:a16="http://schemas.microsoft.com/office/drawing/2014/main" val="964779588"/>
                    </a:ext>
                  </a:extLst>
                </a:gridCol>
                <a:gridCol w="7035282">
                  <a:extLst>
                    <a:ext uri="{9D8B030D-6E8A-4147-A177-3AD203B41FA5}">
                      <a16:colId xmlns:a16="http://schemas.microsoft.com/office/drawing/2014/main" val="1015713570"/>
                    </a:ext>
                  </a:extLst>
                </a:gridCol>
              </a:tblGrid>
              <a:tr h="477421">
                <a:tc>
                  <a:txBody>
                    <a:bodyPr/>
                    <a:lstStyle/>
                    <a:p>
                      <a:r>
                        <a:rPr lang="en-IN" sz="1600" dirty="0"/>
                        <a:t>Basic Vector Retriever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Simplest &amp; default approach </a:t>
                      </a:r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79985"/>
                  </a:ext>
                </a:extLst>
              </a:tr>
              <a:tr h="436979">
                <a:tc>
                  <a:txBody>
                    <a:bodyPr/>
                    <a:lstStyle/>
                    <a:p>
                      <a:r>
                        <a:rPr lang="en-IN" sz="1600" dirty="0"/>
                        <a:t>Maximum Marginal Relevance (MMR) Retriever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Balanced relevance with information diversity</a:t>
                      </a:r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622110"/>
                  </a:ext>
                </a:extLst>
              </a:tr>
              <a:tr h="477421">
                <a:tc>
                  <a:txBody>
                    <a:bodyPr/>
                    <a:lstStyle/>
                    <a:p>
                      <a:r>
                        <a:rPr lang="en-IN" sz="1600" dirty="0"/>
                        <a:t>Similarity Score Threshold Retriever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documents with a certain similarity threshold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653099"/>
                  </a:ext>
                </a:extLst>
              </a:tr>
              <a:tr h="477421">
                <a:tc>
                  <a:txBody>
                    <a:bodyPr/>
                    <a:lstStyle/>
                    <a:p>
                      <a:r>
                        <a:rPr lang="en-IN" sz="1600" dirty="0"/>
                        <a:t>MultiQuery Retriever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Generates multiple query variations to improve retrieval coverage.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496899"/>
                  </a:ext>
                </a:extLst>
              </a:tr>
              <a:tr h="477421">
                <a:tc>
                  <a:txBody>
                    <a:bodyPr/>
                    <a:lstStyle/>
                    <a:p>
                      <a:r>
                        <a:rPr lang="en-US" sz="1600" dirty="0"/>
                        <a:t>Custom MultiQuery Retriever with Output Parser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Tailored approach to query generation for domain-specific needs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266658"/>
                  </a:ext>
                </a:extLst>
              </a:tr>
              <a:tr h="477421">
                <a:tc>
                  <a:txBody>
                    <a:bodyPr/>
                    <a:lstStyle/>
                    <a:p>
                      <a:r>
                        <a:rPr lang="en-US" sz="1600" dirty="0"/>
                        <a:t>Enhanced Ensemble with Custom MultiQuery</a:t>
                      </a:r>
                    </a:p>
                    <a:p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Multiple retriever + 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keyword search + custom query expansion</a:t>
                      </a:r>
                    </a:p>
                    <a:p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2129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733194-D36E-65FD-AB86-012BF03BE1E8}"/>
              </a:ext>
            </a:extLst>
          </p:cNvPr>
          <p:cNvSpPr txBox="1"/>
          <p:nvPr/>
        </p:nvSpPr>
        <p:spPr>
          <a:xfrm>
            <a:off x="10865996" y="6488668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[Notebook]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6305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F912-6E01-CBF7-EF87-2FE1988F6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29728" cy="1188720"/>
          </a:xfrm>
        </p:spPr>
        <p:txBody>
          <a:bodyPr/>
          <a:lstStyle/>
          <a:p>
            <a:r>
              <a:rPr lang="en-US" dirty="0"/>
              <a:t>Step-5 Retrieval and generation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91A62F-1E4B-6172-E61A-4075046E9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35606"/>
              </p:ext>
            </p:extLst>
          </p:nvPr>
        </p:nvGraphicFramePr>
        <p:xfrm>
          <a:off x="277845" y="1945639"/>
          <a:ext cx="8128000" cy="19079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620">
                  <a:extLst>
                    <a:ext uri="{9D8B030D-6E8A-4147-A177-3AD203B41FA5}">
                      <a16:colId xmlns:a16="http://schemas.microsoft.com/office/drawing/2014/main" val="2786187884"/>
                    </a:ext>
                  </a:extLst>
                </a:gridCol>
                <a:gridCol w="5006047">
                  <a:extLst>
                    <a:ext uri="{9D8B030D-6E8A-4147-A177-3AD203B41FA5}">
                      <a16:colId xmlns:a16="http://schemas.microsoft.com/office/drawing/2014/main" val="2552163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9087437"/>
                    </a:ext>
                  </a:extLst>
                </a:gridCol>
              </a:tblGrid>
              <a:tr h="5557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Ensemble Retriever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Weightage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638621"/>
                  </a:ext>
                </a:extLst>
              </a:tr>
              <a:tr h="45073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MMR retriever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377418"/>
                  </a:ext>
                </a:extLst>
              </a:tr>
              <a:tr h="450734">
                <a:tc>
                  <a:txBody>
                    <a:bodyPr/>
                    <a:lstStyle/>
                    <a:p>
                      <a:r>
                        <a:rPr lang="en-US" dirty="0"/>
                        <a:t>II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Similarity Score Retriever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508775"/>
                  </a:ext>
                </a:extLst>
              </a:tr>
              <a:tr h="450734">
                <a:tc>
                  <a:txBody>
                    <a:bodyPr/>
                    <a:lstStyle/>
                    <a:p>
                      <a:r>
                        <a:rPr lang="en-US" dirty="0"/>
                        <a:t>III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BM25_Retriver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7782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7CB3697-B8A4-71E0-80AC-27B7CFCA0FB5}"/>
              </a:ext>
            </a:extLst>
          </p:cNvPr>
          <p:cNvSpPr txBox="1"/>
          <p:nvPr/>
        </p:nvSpPr>
        <p:spPr>
          <a:xfrm>
            <a:off x="277845" y="1474237"/>
            <a:ext cx="3367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 retriever combination used :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2267B-7FD8-72D7-102A-3836F08F644E}"/>
              </a:ext>
            </a:extLst>
          </p:cNvPr>
          <p:cNvSpPr txBox="1"/>
          <p:nvPr/>
        </p:nvSpPr>
        <p:spPr>
          <a:xfrm>
            <a:off x="277845" y="4017028"/>
            <a:ext cx="109188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Reason for Choice of retrievers:</a:t>
            </a:r>
          </a:p>
          <a:p>
            <a:endParaRPr lang="en-US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BM25 Retriever </a:t>
            </a:r>
            <a:r>
              <a:rPr lang="en-US" dirty="0"/>
              <a:t>is well known for its keyword-based retrieval, making it suitable for the use case where the end user has endpoint details and searches using specific keywords to find the exact document.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MMR Retriever </a:t>
            </a:r>
            <a:r>
              <a:rPr lang="en-US" dirty="0"/>
              <a:t>is effective at reducing redundancy in the results and promoting diversity, which helps avoid near-duplicate documents and covers different aspects of a topic.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Similarity Score Retriever </a:t>
            </a:r>
            <a:r>
              <a:rPr lang="en-US" dirty="0"/>
              <a:t>is a straightforward approach to filter out low-relevance documents, improving the accuracy of the retrieved results.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69129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E2EC5-EEC3-6014-71E6-AD3649FBE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2556B-BCF8-05BA-EB00-1FA606636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29728" cy="1188720"/>
          </a:xfrm>
        </p:spPr>
        <p:txBody>
          <a:bodyPr/>
          <a:lstStyle/>
          <a:p>
            <a:r>
              <a:rPr lang="en-US" dirty="0"/>
              <a:t>Step-5 Retrieval and generation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363280-14AA-E6E6-1A2A-7569D14005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0" t="7567" r="3451" b="6243"/>
          <a:stretch/>
        </p:blipFill>
        <p:spPr>
          <a:xfrm>
            <a:off x="8024325" y="793102"/>
            <a:ext cx="3676263" cy="19967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ED20EC-95E9-5FD6-5E5A-3FCBDA7877A8}"/>
              </a:ext>
            </a:extLst>
          </p:cNvPr>
          <p:cNvSpPr txBox="1"/>
          <p:nvPr/>
        </p:nvSpPr>
        <p:spPr>
          <a:xfrm>
            <a:off x="163285" y="1384824"/>
            <a:ext cx="740315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SLM used and reasoning</a:t>
            </a:r>
          </a:p>
          <a:p>
            <a:endParaRPr lang="en-US" dirty="0"/>
          </a:p>
          <a:p>
            <a:r>
              <a:rPr lang="en-US" sz="2400" dirty="0"/>
              <a:t>Llama3.2:latest</a:t>
            </a:r>
          </a:p>
          <a:p>
            <a:endParaRPr lang="en-US" sz="2000" dirty="0"/>
          </a:p>
          <a:p>
            <a:r>
              <a:rPr lang="en-US" dirty="0"/>
              <a:t>Parameters : 3.1B</a:t>
            </a:r>
          </a:p>
          <a:p>
            <a:r>
              <a:rPr lang="en-US" dirty="0"/>
              <a:t>Size : quantized to 2GB, efficient for local serving</a:t>
            </a:r>
          </a:p>
          <a:p>
            <a:r>
              <a:rPr lang="en-US" dirty="0"/>
              <a:t>Knowledge Cutoff : December 2023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Ollama</a:t>
            </a:r>
            <a:r>
              <a:rPr lang="en-US" sz="1600" dirty="0"/>
              <a:t> was utilized, and the model was deployed in Collab.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is highly cost-effective and delivers improved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Provides faster response generation.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Open source, supports local serving, and ensures privacy.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Has a reasonable knowledge cutoff.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Simple to serve and scale.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Ideal for low-cost RAG architectures.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Other SLM Tried are Phi4(14b), gemma2(9b), </a:t>
            </a:r>
            <a:r>
              <a:rPr lang="en-US" sz="1600" dirty="0" err="1">
                <a:effectLst/>
              </a:rPr>
              <a:t>starcoder</a:t>
            </a:r>
            <a:r>
              <a:rPr lang="en-US" sz="1600" dirty="0">
                <a:effectLst/>
              </a:rPr>
              <a:t>(7b)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Llama3.2 was best at summarizing and generation.</a:t>
            </a:r>
            <a:r>
              <a:rPr lang="en-US" sz="1600" dirty="0">
                <a:effectLst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51D78-3109-236E-78E7-681D0507C10D}"/>
              </a:ext>
            </a:extLst>
          </p:cNvPr>
          <p:cNvSpPr txBox="1"/>
          <p:nvPr/>
        </p:nvSpPr>
        <p:spPr>
          <a:xfrm>
            <a:off x="10018007" y="6488668"/>
            <a:ext cx="217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[Notebook - DEMO]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8917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C63A9-99DC-1602-8FB2-F3DABED0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050426-9186-DC39-59A3-AF8AB5479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668"/>
            <a:ext cx="7729728" cy="1188720"/>
          </a:xfrm>
        </p:spPr>
        <p:txBody>
          <a:bodyPr/>
          <a:lstStyle/>
          <a:p>
            <a:r>
              <a:rPr lang="en-US" dirty="0"/>
              <a:t>Architecture Diagram</a:t>
            </a:r>
            <a:endParaRPr lang="en-IN" dirty="0"/>
          </a:p>
        </p:txBody>
      </p:sp>
      <p:pic>
        <p:nvPicPr>
          <p:cNvPr id="7" name="Content Placeholder 6" descr="A diagram of a diagram">
            <a:extLst>
              <a:ext uri="{FF2B5EF4-FFF2-40B4-BE49-F238E27FC236}">
                <a16:creationId xmlns:a16="http://schemas.microsoft.com/office/drawing/2014/main" id="{C79D2ABB-15FF-FBD2-9291-08BC432CC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39" y="1808480"/>
            <a:ext cx="11445402" cy="4892971"/>
          </a:xfrm>
        </p:spPr>
      </p:pic>
    </p:spTree>
    <p:extLst>
      <p:ext uri="{BB962C8B-B14F-4D97-AF65-F5344CB8AC3E}">
        <p14:creationId xmlns:p14="http://schemas.microsoft.com/office/powerpoint/2010/main" val="75704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FD5B9-3D1D-0BDA-C241-B862AB9B2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CC80D-2CA7-02F3-1C4F-4EAD7A9F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29728" cy="1188720"/>
          </a:xfrm>
        </p:spPr>
        <p:txBody>
          <a:bodyPr/>
          <a:lstStyle/>
          <a:p>
            <a:r>
              <a:rPr lang="en-US" dirty="0"/>
              <a:t>Future Implementations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FB9238-9482-09AA-44E4-00811C46CA7E}"/>
              </a:ext>
            </a:extLst>
          </p:cNvPr>
          <p:cNvSpPr txBox="1"/>
          <p:nvPr/>
        </p:nvSpPr>
        <p:spPr>
          <a:xfrm>
            <a:off x="163285" y="1384824"/>
            <a:ext cx="1049227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effectLst/>
              </a:rPr>
              <a:t>UI Development: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en-US" sz="1600" dirty="0">
                <a:effectLst/>
              </a:rPr>
              <a:t>Developing a user-friendly UI on top of existing console chat</a:t>
            </a:r>
          </a:p>
          <a:p>
            <a:endParaRPr lang="en-US" sz="1600" dirty="0"/>
          </a:p>
          <a:p>
            <a:r>
              <a:rPr lang="en-US" sz="2000" dirty="0"/>
              <a:t>Context-Aware Chat</a:t>
            </a:r>
            <a:r>
              <a:rPr lang="en-US" sz="1600" dirty="0"/>
              <a:t>: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en-US" sz="1600" dirty="0"/>
              <a:t>Try to retain the use conversation which can help to maintain the context in the chat.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en-US" sz="1600" dirty="0"/>
              <a:t>This can also help user to ask follow-up questions and refine their queries iteratively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r>
              <a:rPr lang="en-US" sz="2000" dirty="0"/>
              <a:t>Guardrails:</a:t>
            </a:r>
          </a:p>
          <a:p>
            <a:pPr marL="800100" lvl="1" indent="-342900">
              <a:spcAft>
                <a:spcPts val="600"/>
              </a:spcAft>
              <a:buFontTx/>
              <a:buChar char="-"/>
            </a:pPr>
            <a:r>
              <a:rPr lang="en-US" sz="1600" dirty="0"/>
              <a:t>Implementing guardrails for both input and system outputs</a:t>
            </a:r>
          </a:p>
          <a:p>
            <a:pPr marL="800100" lvl="1" indent="-342900">
              <a:spcAft>
                <a:spcPts val="600"/>
              </a:spcAft>
              <a:buFontTx/>
              <a:buChar char="-"/>
            </a:pPr>
            <a:r>
              <a:rPr lang="en-US" sz="1600" dirty="0"/>
              <a:t>Input guardrails detect ambiguous and malformed queries</a:t>
            </a:r>
          </a:p>
          <a:p>
            <a:pPr marL="800100" lvl="1" indent="-342900">
              <a:spcAft>
                <a:spcPts val="600"/>
              </a:spcAft>
              <a:buFontTx/>
              <a:buChar char="-"/>
            </a:pPr>
            <a:r>
              <a:rPr lang="en-US" sz="1600" dirty="0"/>
              <a:t>Output guardrails </a:t>
            </a:r>
            <a:r>
              <a:rPr lang="en-IN" sz="1600" dirty="0"/>
              <a:t>can filter or validate generated responses to ensure accuracy, prevent hallucinations, and enforce compliance with organizational guidelines</a:t>
            </a:r>
          </a:p>
          <a:p>
            <a:pPr marL="800100" lvl="1" indent="-342900">
              <a:buFontTx/>
              <a:buChar char="-"/>
            </a:pPr>
            <a:endParaRPr lang="en-IN" sz="1600" dirty="0"/>
          </a:p>
          <a:p>
            <a:r>
              <a:rPr lang="en-IN" sz="2000" dirty="0"/>
              <a:t>Evaluation and Benchmarking: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en-IN" sz="1600" dirty="0"/>
              <a:t>Implement evaluation protocols that measure retrieval quality (e.g., precision, recall, relevance scoring) and generation quality (e.g., correctness, fluency, adherence to documentation)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en-IN" sz="1600" dirty="0"/>
              <a:t>Benchmarking against existing support systems or human experts can help validate the chatbot’s effectiveness and identify areas for further refinement</a:t>
            </a:r>
          </a:p>
        </p:txBody>
      </p:sp>
    </p:spTree>
    <p:extLst>
      <p:ext uri="{BB962C8B-B14F-4D97-AF65-F5344CB8AC3E}">
        <p14:creationId xmlns:p14="http://schemas.microsoft.com/office/powerpoint/2010/main" val="269080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B494BA-2DA5-F9D2-F762-7B6583ABE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5000" dirty="0"/>
              <a:t>THANK YOU!</a:t>
            </a:r>
            <a:endParaRPr lang="en-IN" sz="5000" dirty="0"/>
          </a:p>
        </p:txBody>
      </p:sp>
    </p:spTree>
    <p:extLst>
      <p:ext uri="{BB962C8B-B14F-4D97-AF65-F5344CB8AC3E}">
        <p14:creationId xmlns:p14="http://schemas.microsoft.com/office/powerpoint/2010/main" val="1959961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F93C-134D-711E-64BF-DB8CB481F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707CE-0B9E-000F-92A7-93069879B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51378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210</TotalTime>
  <Words>700</Words>
  <Application>Microsoft Office PowerPoint</Application>
  <PresentationFormat>Widescreen</PresentationFormat>
  <Paragraphs>112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Comic Sans MS</vt:lpstr>
      <vt:lpstr>Consolas</vt:lpstr>
      <vt:lpstr>Gill Sans MT</vt:lpstr>
      <vt:lpstr>Parcel</vt:lpstr>
      <vt:lpstr>A RAG-Powered Chatbot for CyberArk API Documentation</vt:lpstr>
      <vt:lpstr>Architecture Diagram</vt:lpstr>
      <vt:lpstr>Step-1 : Data Collection </vt:lpstr>
      <vt:lpstr>Step-2 Data Processing</vt:lpstr>
      <vt:lpstr>Step-3 Data Enrichment </vt:lpstr>
      <vt:lpstr>PowerPoint Presentation</vt:lpstr>
      <vt:lpstr>Step-4 Embedding</vt:lpstr>
      <vt:lpstr>Step-4 Embedding</vt:lpstr>
      <vt:lpstr>Step-5 Retrieval and generation</vt:lpstr>
      <vt:lpstr>Step-5 Retrieval and generation</vt:lpstr>
      <vt:lpstr>Step-5 Retrieval and generation</vt:lpstr>
      <vt:lpstr>Architecture Diagram</vt:lpstr>
      <vt:lpstr>Future Implementations</vt:lpstr>
      <vt:lpstr>THANK YOU!</vt:lpstr>
      <vt:lpstr>PowerPoint Presentation</vt:lpstr>
    </vt:vector>
  </TitlesOfParts>
  <Company>CyberArk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Thrivedi Saya</dc:creator>
  <cp:lastModifiedBy>Venkata Thrivedi Saya</cp:lastModifiedBy>
  <cp:revision>4</cp:revision>
  <dcterms:created xsi:type="dcterms:W3CDTF">2025-07-09T01:03:00Z</dcterms:created>
  <dcterms:modified xsi:type="dcterms:W3CDTF">2025-07-19T15:50:19Z</dcterms:modified>
</cp:coreProperties>
</file>
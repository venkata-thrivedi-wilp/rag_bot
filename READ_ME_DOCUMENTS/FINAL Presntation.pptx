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6" r:id="rId10"/>
    <p:sldId id="270" r:id="rId11"/>
    <p:sldId id="271" r:id="rId12"/>
    <p:sldId id="272" r:id="rId13"/>
    <p:sldId id="282" r:id="rId14"/>
    <p:sldId id="273" r:id="rId15"/>
    <p:sldId id="283" r:id="rId16"/>
    <p:sldId id="274" r:id="rId17"/>
    <p:sldId id="284" r:id="rId18"/>
    <p:sldId id="285" r:id="rId19"/>
    <p:sldId id="275" r:id="rId20"/>
    <p:sldId id="286" r:id="rId21"/>
    <p:sldId id="276" r:id="rId22"/>
    <p:sldId id="277" r:id="rId23"/>
    <p:sldId id="278" r:id="rId24"/>
    <p:sldId id="279" r:id="rId25"/>
    <p:sldId id="280" r:id="rId26"/>
    <p:sldId id="281" r:id="rId27"/>
    <p:sldId id="269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78087" autoAdjust="0"/>
  </p:normalViewPr>
  <p:slideViewPr>
    <p:cSldViewPr snapToGrid="0">
      <p:cViewPr varScale="1">
        <p:scale>
          <a:sx n="78" d="100"/>
          <a:sy n="78" d="100"/>
        </p:scale>
        <p:origin x="181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16:15.894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0 589 24575,'35'-14'0,"0"2"0,0 1 0,59-10 0,-52 12 0,545-125 0,-256 36 0,-308 91 0,117-32 0,26-9 0,-81 21 0,137-24 0,-108 28 0,24-20 0,-80 26 0,-37 9 0,1 2 0,38-6 0,-31 6-1365,-18 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9T02:16:18.949"/>
    </inkml:context>
    <inkml:brush xml:id="br0">
      <inkml:brushProperty name="width" value="0.035" units="cm"/>
      <inkml:brushProperty name="height" value="0.035" units="cm"/>
      <inkml:brushProperty name="color" value="#004F8B"/>
    </inkml:brush>
  </inkml:definitions>
  <inkml:trace contextRef="#ctx0" brushRef="#br0">97 0 24575,'-14'70'0,"10"-32"0,-2-1 0,-14 46 0,10-42 0,-9 11 0,14-42 0,1 0 0,0 0 0,1 0 0,0 0 0,-1 13 0,3-20 0,1 0 0,0 0 0,0 0 0,1 0 0,-1 0 0,0 0 0,1 0 0,0 0 0,0 0 0,0 0 0,0 0 0,1 0 0,-1 0 0,1 0 0,-1-1 0,1 1 0,0-1 0,0 1 0,0-1 0,0 0 0,1 0 0,2 2 0,20 17 0,1-2 0,0-1 0,49 25 0,-25-17 0,-35-17 0,1 0 0,0-2 0,0 0 0,1 0 0,24 5 0,-38-12-124,-1 1 0,1 0 0,-1 0 0,1 0 0,-1 0 0,0 0-1,0 1 1,0-1 0,0 1 0,2 1 0,3 2-6702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B115D-6610-4031-914B-D2F996BDD885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4DE85-BD24-4C21-8E16-666E525E96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7256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4027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E2DAC-8BEA-5228-F0AE-5374246CB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9CE2-CDD7-A80C-A017-0B0C8D4A29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6544CA-7371-FA37-2F11-B3FED9A1FA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330D14-0076-79BF-74BF-CF7A45D6A3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1368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845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Fastest and most efficient approach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Consistent baseline performance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Easy to implement and maintain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Good for high-volume, simple queries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Weaknesses: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Lowest scores across most metrics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Limited contextual understanding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May miss nuanced relationships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Less effective for complex queries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17025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C4994-6124-BA1D-F6A2-E1F102DA20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0E6235-E769-7E7C-2732-F1D734DDE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412E2-5B98-D6CC-E206-4A1E67751E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Strong contextual understanding through adjacent chunks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Excellent for questions requiring detailed explanations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Good balance of performance and cost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Weaknesses: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May include irrelevant context from adjacent chunks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Dependent on document structure and chunking strategy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Less effective for queries spanning multiple documents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7E17C5-EF3B-33BC-63A1-DCD8319A26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44070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E9828F-A74F-7C4C-1BF2-43864FCF7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096AD1-B870-292A-7E33-13AE7F4E06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51498D-1D3B-AE6C-87AD-B870F0B619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Strong semantic matching capabilities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Good balance across all metrics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Effective filtering with similarity thresholds</a:t>
            </a:r>
          </a:p>
          <a:p>
            <a:pPr marL="0" lvl="0" indent="0">
              <a:buFontTx/>
              <a:buNone/>
            </a:pPr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Reliable for precise information retrieval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adds semantic intelligence to keyword-based retrieval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BERT understand semantic equivalence “remove” = “delete”</a:t>
            </a:r>
          </a:p>
          <a:p>
            <a:pPr marL="171450" indent="-171450">
              <a:buFontTx/>
              <a:buChar char="-"/>
            </a:pP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Maps different vocabularies to same semantic space Ex: All authentication-related terms cluster together in embedding space</a:t>
            </a:r>
          </a:p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 Semantic similarity captures paraphrases "bulk" ≈ "batch“ ; "import" ≈ "creation“ ; "spreadsheet" ≈ "CSV"</a:t>
            </a:r>
          </a:p>
          <a:p>
            <a:pPr marL="171450" indent="-171450">
              <a:buFontTx/>
              <a:buChar char="-"/>
            </a:pP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171450" indent="-171450">
              <a:buFontTx/>
              <a:buChar char="-"/>
            </a:pP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Weaknesses: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Additional embedding computation overhead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May miss relevant docs below similarity threshold if it is high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Limited context expansion capabilities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8C7B9-86BF-A29E-99BF-B5CCC77196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3932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7416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1E0433-57C2-70A1-1684-25E81AC17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10E0A-A4B8-A289-679E-61E81C93CD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52B4E6-6187-1ACF-BD9E-D284962507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Highest accuracy and completeness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Self-correcting mechanism identifies and fills knowledge gaps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Good for complex, multi-faceted questions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Comprehensive responses with enhanced context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Weaknesses: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Highest computational cost (multiple LLM calls)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Longer response times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May be over-engineered for simple queries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Complexity can introduce inconsistency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68814-AE53-621C-4868-16B9F68216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5606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91FE-193F-82C8-BD4D-5F48F6920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70D5F-12C5-C1BC-BF12-8EDAA7D4C2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CD2130-935C-B063-FFA5-7FEDE8AC6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Strengths: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Adaptive to different query types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High clarity scores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Customized responses based on query analysis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Good for diverse question categories</a:t>
            </a:r>
          </a:p>
          <a:p>
            <a:r>
              <a:rPr lang="en-IN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Weaknesses:</a:t>
            </a:r>
            <a:endParaRPr lang="en-I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Additional LLM call for prompt generation increases cost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Performance depends on quality of query analysis</a:t>
            </a:r>
          </a:p>
          <a:p>
            <a:pPr lvl="0"/>
            <a:r>
              <a:rPr lang="en-I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May over-complicate simple queries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823B1A-0975-F5A2-16DE-0BF4070212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0128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24AF2C-BF17-7735-0E3F-069C876A6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53586A-64EC-4A5E-16A5-50A09D3C9E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9647F0F-A52D-2CA1-A785-94D8314C78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C22DA3-6473-8D91-C9E3-FD72A1C8C4F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001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9D670-D47E-7486-DAD1-4280F3857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078D6-6CDC-C10D-4712-38BF5D066A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15E62F-40DD-7C2B-CEEC-14A7274168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0E5BD-0F68-5147-7858-7752E9453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91597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F1B41-BEE0-2AB2-7EF8-A2E05EFD7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A6E8A1-13CE-DA9C-95F5-977E47E614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7361DA-1ECE-4632-893D-38220757E5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D73262-8BEA-CD6F-CDB6-4988C7516F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3965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9CBD8E-BB3F-1A3D-5C06-B0DAEA1B7F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4ECD77-2D15-1FFB-C723-ADE59BE618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2535E5-D5B6-DC73-0645-976C5F3322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82B152-FAA5-46AF-B379-C3A1F2F869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11097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6013C-AC62-DBE6-9299-0A05D613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2A53F-ECDF-82B0-9863-B24D3C7937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BFA679-D30B-2A04-920E-F8C6F1E4E0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C46231-D9E9-A3C9-C793-99A0D1A2B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63722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D1E7-7C81-61FF-F8EC-776C41E6B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35E7E6-9847-FF0F-CA1A-66E301B2D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737D6A1-8BD1-F2EA-5253-FBFD9854E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0DAF6-235B-51E9-584D-3B0D51505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24DE85-BD24-4C21-8E16-666E525E964E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4964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410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3246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9011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3823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461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42039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338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1414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3911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7475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0116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18B599F-1556-44B2-8907-7C626B3A8950}" type="datetimeFigureOut">
              <a:rPr lang="en-IN" smtClean="0"/>
              <a:t>23-08-2025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027586F-6C33-48FC-B44F-3E2FF0313F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14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customXml" Target="../ink/ink2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customXml" Target="../ink/ink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2360-26DB-E543-82E1-61236AFB7B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47665"/>
            <a:ext cx="12192000" cy="2884999"/>
          </a:xfrm>
        </p:spPr>
        <p:txBody>
          <a:bodyPr>
            <a:normAutofit/>
          </a:bodyPr>
          <a:lstStyle/>
          <a:p>
            <a:r>
              <a:rPr lang="en-IN" sz="6000" b="1" kern="100" baseline="-25000" dirty="0">
                <a:solidFill>
                  <a:srgbClr val="000000"/>
                </a:solidFill>
                <a:effectLst/>
                <a:latin typeface="Aptos" panose="020B0004020202020204" pitchFamily="34" charset="0"/>
                <a:ea typeface="Cambria" panose="02040503050406030204" pitchFamily="18" charset="0"/>
                <a:cs typeface="Cambria" panose="02040503050406030204" pitchFamily="18" charset="0"/>
              </a:rPr>
              <a:t>A RAG-Powered Chatbot for CyberArk API Documentation</a:t>
            </a:r>
            <a:endParaRPr lang="en-IN" sz="9600" baseline="-25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9BA68D-1050-DBC6-777D-A62D085F80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By Saya, Venkata Thrivedi – 2023AA05203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88070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2494EA-CADC-3C5F-6D19-2C18D63B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0668"/>
            <a:ext cx="7729728" cy="1188720"/>
          </a:xfrm>
        </p:spPr>
        <p:txBody>
          <a:bodyPr/>
          <a:lstStyle/>
          <a:p>
            <a:r>
              <a:rPr lang="en-US" dirty="0"/>
              <a:t>Architecture Diagram</a:t>
            </a:r>
            <a:endParaRPr lang="en-IN" dirty="0"/>
          </a:p>
        </p:txBody>
      </p:sp>
      <p:pic>
        <p:nvPicPr>
          <p:cNvPr id="7" name="Content Placeholder 6" descr="A diagram of a diagram">
            <a:extLst>
              <a:ext uri="{FF2B5EF4-FFF2-40B4-BE49-F238E27FC236}">
                <a16:creationId xmlns:a16="http://schemas.microsoft.com/office/drawing/2014/main" id="{47A09CE9-4306-075D-0860-1D24259A26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39" y="1808480"/>
            <a:ext cx="11445402" cy="4892971"/>
          </a:xfrm>
        </p:spPr>
      </p:pic>
    </p:spTree>
    <p:extLst>
      <p:ext uri="{BB962C8B-B14F-4D97-AF65-F5344CB8AC3E}">
        <p14:creationId xmlns:p14="http://schemas.microsoft.com/office/powerpoint/2010/main" val="407225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BB9B-A8A3-749A-FCF2-15B8C0C2B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4866640" cy="1188720"/>
          </a:xfrm>
        </p:spPr>
        <p:txBody>
          <a:bodyPr>
            <a:normAutofit/>
          </a:bodyPr>
          <a:lstStyle/>
          <a:p>
            <a:r>
              <a:rPr lang="en-US" sz="2400" dirty="0"/>
              <a:t>Step-1 : Data Collection </a:t>
            </a:r>
            <a:endParaRPr lang="en-IN" sz="2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1C38C4-81C4-A3E4-79E9-4A67B67CF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06" y="1694570"/>
            <a:ext cx="3551228" cy="17298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2F9D55B-AE38-9CA6-F2AB-FEDCFE7584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8743" y="0"/>
            <a:ext cx="5307497" cy="684892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0EE4B9-2600-D08B-02EB-D928896E23BE}"/>
              </a:ext>
            </a:extLst>
          </p:cNvPr>
          <p:cNvSpPr txBox="1"/>
          <p:nvPr/>
        </p:nvSpPr>
        <p:spPr>
          <a:xfrm>
            <a:off x="2839274" y="4978764"/>
            <a:ext cx="36794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ea typeface="Calibri" panose="020F0502020204030204" pitchFamily="34" charset="0"/>
                <a:cs typeface="Arial" panose="020B0604020202020204" pitchFamily="34" charset="0"/>
              </a:rPr>
              <a:t>Sample YAML file for an Endpoint  =&gt;</a:t>
            </a:r>
            <a:endParaRPr lang="en-IN" dirty="0"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669F9B15-3B2E-0BF9-DDF8-B67634B3839D}"/>
                  </a:ext>
                </a:extLst>
              </p14:cNvPr>
              <p14:cNvContentPartPr/>
              <p14:nvPr/>
            </p14:nvContentPartPr>
            <p14:xfrm>
              <a:off x="3916480" y="2378840"/>
              <a:ext cx="809280" cy="21204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669F9B15-3B2E-0BF9-DDF8-B67634B3839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910360" y="2372720"/>
                <a:ext cx="821520" cy="22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97E67C70-F706-3337-7B76-B76B9AE161EF}"/>
                  </a:ext>
                </a:extLst>
              </p14:cNvPr>
              <p14:cNvContentPartPr/>
              <p14:nvPr/>
            </p14:nvContentPartPr>
            <p14:xfrm>
              <a:off x="3917200" y="2443280"/>
              <a:ext cx="139680" cy="23652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97E67C70-F706-3337-7B76-B76B9AE161E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911080" y="2437160"/>
                <a:ext cx="151920" cy="248760"/>
              </a:xfrm>
              <a:prstGeom prst="rect">
                <a:avLst/>
              </a:prstGeom>
            </p:spPr>
          </p:pic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05CBF795-7DA7-6698-A02D-66AF42CBBD5D}"/>
              </a:ext>
            </a:extLst>
          </p:cNvPr>
          <p:cNvSpPr txBox="1"/>
          <p:nvPr/>
        </p:nvSpPr>
        <p:spPr>
          <a:xfrm>
            <a:off x="4639787" y="2115528"/>
            <a:ext cx="19287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OpenAPI Spec File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72764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3ADDE-B0AE-931C-E1D7-6692F600F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5191760" cy="1188720"/>
          </a:xfrm>
        </p:spPr>
        <p:txBody>
          <a:bodyPr/>
          <a:lstStyle/>
          <a:p>
            <a:r>
              <a:rPr lang="en-US" dirty="0"/>
              <a:t>Step-2 Data Processing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ECC4C6-D32F-F6B1-F300-6E95BFF37D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0242" y="344476"/>
            <a:ext cx="3795089" cy="15469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EDBC2DD-E679-2BD1-EF88-196EDC3E84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440" y="1942306"/>
            <a:ext cx="3325767" cy="49156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774926D-98DC-74DF-12D8-D983CBDB15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9760" y="2081245"/>
            <a:ext cx="5278275" cy="4432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5FB9692-5689-14F4-C25E-3E86D304E29D}"/>
              </a:ext>
            </a:extLst>
          </p:cNvPr>
          <p:cNvSpPr txBox="1"/>
          <p:nvPr/>
        </p:nvSpPr>
        <p:spPr>
          <a:xfrm>
            <a:off x="3907866" y="4500880"/>
            <a:ext cx="155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omic Sans MS" panose="030F0702030302020204" pitchFamily="66" charset="0"/>
              </a:rPr>
              <a:t>=&gt; =&gt; =&gt; =&gt; =&gt; </a:t>
            </a:r>
            <a:endParaRPr lang="en-IN" dirty="0"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1108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3C5-6665-4734-9181-538351717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Step-3 Data Enrichment 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06EA2CA-B376-09E6-03E6-7A068FAAC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16506" y="523522"/>
            <a:ext cx="2697714" cy="54563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9E09515-5B7F-AB27-C21E-ED411D958DDC}"/>
              </a:ext>
            </a:extLst>
          </p:cNvPr>
          <p:cNvSpPr txBox="1"/>
          <p:nvPr/>
        </p:nvSpPr>
        <p:spPr>
          <a:xfrm>
            <a:off x="6949440" y="6334478"/>
            <a:ext cx="3142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SLM used is Ollama3.2:latest</a:t>
            </a:r>
            <a:endParaRPr lang="en-IN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5A9E829-2C54-B529-D6E9-E7B90FC37C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8" y="1215601"/>
            <a:ext cx="6707370" cy="559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991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ADF55F-017E-E228-40CC-A26ECEDE1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947" y="0"/>
            <a:ext cx="10534105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F04BE8F-06DD-2507-4FD5-4CEEF87E1673}"/>
              </a:ext>
            </a:extLst>
          </p:cNvPr>
          <p:cNvSpPr txBox="1"/>
          <p:nvPr/>
        </p:nvSpPr>
        <p:spPr>
          <a:xfrm>
            <a:off x="8219440" y="6136640"/>
            <a:ext cx="32715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Enriched Text File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59212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B70AD4-E964-E1B3-4878-CDBBAC30B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3EF828-2762-7360-6126-60DACEB9F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Step-4 Embedding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DEC71E-D3A6-EA27-4473-3F6FC32C6D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09" y="446891"/>
            <a:ext cx="2103302" cy="344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4DAA73-1664-C0ED-A065-90365B32D689}"/>
              </a:ext>
            </a:extLst>
          </p:cNvPr>
          <p:cNvSpPr txBox="1"/>
          <p:nvPr/>
        </p:nvSpPr>
        <p:spPr>
          <a:xfrm>
            <a:off x="270588" y="1604865"/>
            <a:ext cx="892006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Studied 3 different type of embedding models</a:t>
            </a:r>
          </a:p>
          <a:p>
            <a:r>
              <a:rPr lang="en-US" sz="1600" dirty="0"/>
              <a:t>	</a:t>
            </a:r>
          </a:p>
          <a:p>
            <a:r>
              <a:rPr lang="en-US" dirty="0" err="1"/>
              <a:t>Ollama</a:t>
            </a:r>
            <a:r>
              <a:rPr lang="en-US" dirty="0"/>
              <a:t> =&gt; </a:t>
            </a:r>
            <a:r>
              <a:rPr lang="en-IN" dirty="0" err="1"/>
              <a:t>nomic-embed-text:latest</a:t>
            </a:r>
            <a:endParaRPr lang="en-IN" dirty="0"/>
          </a:p>
          <a:p>
            <a:r>
              <a:rPr lang="en-IN" sz="1600" dirty="0"/>
              <a:t>	- 768 dimensions</a:t>
            </a:r>
          </a:p>
          <a:p>
            <a:endParaRPr lang="en-IN" sz="1600" dirty="0"/>
          </a:p>
          <a:p>
            <a:r>
              <a:rPr lang="en-IN" dirty="0" err="1"/>
              <a:t>Ollama</a:t>
            </a:r>
            <a:r>
              <a:rPr lang="en-IN" dirty="0"/>
              <a:t> =&gt; bge-m3:567m</a:t>
            </a:r>
          </a:p>
          <a:p>
            <a:r>
              <a:rPr lang="en-IN" sz="1600" dirty="0"/>
              <a:t>	- 1024 dimensions</a:t>
            </a:r>
          </a:p>
          <a:p>
            <a:endParaRPr lang="en-IN" sz="1600" dirty="0"/>
          </a:p>
          <a:p>
            <a:r>
              <a:rPr lang="en-IN" dirty="0" err="1"/>
              <a:t>HuggingFace</a:t>
            </a:r>
            <a:r>
              <a:rPr lang="en-IN" dirty="0"/>
              <a:t> =&gt; all-MiniLM-L6-v2</a:t>
            </a:r>
          </a:p>
          <a:p>
            <a:r>
              <a:rPr lang="en-IN" sz="1600" dirty="0"/>
              <a:t>	- 384 dimensions</a:t>
            </a:r>
          </a:p>
          <a:p>
            <a:endParaRPr lang="en-IN" sz="1600" dirty="0"/>
          </a:p>
          <a:p>
            <a:r>
              <a:rPr lang="en-IN" dirty="0"/>
              <a:t>Observation</a:t>
            </a:r>
            <a:r>
              <a:rPr lang="en-IN" sz="1600" dirty="0"/>
              <a:t>: even though `all-MiniLM-L6-V2` has less dimensions, it is able to capture </a:t>
            </a:r>
            <a:r>
              <a:rPr lang="en-US" sz="1600" dirty="0"/>
              <a:t>the best balance between retrieval quality and performance for API documentation use case.</a:t>
            </a:r>
            <a:r>
              <a:rPr lang="en-IN" sz="1600" dirty="0"/>
              <a:t> </a:t>
            </a:r>
          </a:p>
          <a:p>
            <a:endParaRPr lang="en-IN" sz="1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53D363-A6AE-7D23-3093-F162D5DCF6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5079743"/>
            <a:ext cx="6096000" cy="1778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387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6743D-5E74-33E6-793B-16114A8DC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729728" cy="1188720"/>
          </a:xfrm>
        </p:spPr>
        <p:txBody>
          <a:bodyPr/>
          <a:lstStyle/>
          <a:p>
            <a:r>
              <a:rPr lang="en-US" dirty="0"/>
              <a:t>Step-4 Embedding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1EC386-0DE0-A312-4509-ECE9C1BCAF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3309" y="446891"/>
            <a:ext cx="2103302" cy="34445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021614-88FA-AC5D-5D56-07B4C2E07630}"/>
              </a:ext>
            </a:extLst>
          </p:cNvPr>
          <p:cNvSpPr txBox="1"/>
          <p:nvPr/>
        </p:nvSpPr>
        <p:spPr>
          <a:xfrm>
            <a:off x="270588" y="1604865"/>
            <a:ext cx="8920065" cy="423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Embedding used </a:t>
            </a:r>
            <a:r>
              <a:rPr lang="en-US" dirty="0"/>
              <a:t>: </a:t>
            </a:r>
            <a:r>
              <a:rPr lang="en-US" sz="1600" dirty="0"/>
              <a:t>HuggingFaceEmbedding - </a:t>
            </a:r>
            <a:r>
              <a:rPr lang="en-IN" sz="1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all-MiniLM-L6-v2 – </a:t>
            </a:r>
            <a:r>
              <a:rPr lang="en-IN" sz="1600" dirty="0"/>
              <a:t>384 dimensional </a:t>
            </a:r>
            <a:r>
              <a:rPr lang="en-IN" sz="1400" b="1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endParaRPr lang="en-IN" sz="1600" b="1" dirty="0">
              <a:solidFill>
                <a:srgbClr val="A31515"/>
              </a:solidFill>
              <a:effectLst/>
              <a:latin typeface="Consolas" panose="020B0609020204030204" pitchFamily="49" charset="0"/>
            </a:endParaRPr>
          </a:p>
          <a:p>
            <a:endParaRPr lang="en-IN" sz="1600" b="1" dirty="0">
              <a:solidFill>
                <a:srgbClr val="A31515"/>
              </a:solidFill>
              <a:latin typeface="Consolas" panose="020B0609020204030204" pitchFamily="49" charset="0"/>
            </a:endParaRPr>
          </a:p>
          <a:p>
            <a:r>
              <a:rPr lang="en-IN" sz="2000" dirty="0">
                <a:latin typeface="+mj-lt"/>
              </a:rPr>
              <a:t>Vector Store used </a:t>
            </a:r>
            <a:r>
              <a:rPr lang="en-IN" dirty="0"/>
              <a:t>: </a:t>
            </a:r>
            <a:r>
              <a:rPr lang="en-IN" sz="1600" dirty="0"/>
              <a:t>FAISS (Facebook AI Similarity Search)</a:t>
            </a:r>
          </a:p>
          <a:p>
            <a:endParaRPr lang="en-IN" sz="1600" dirty="0"/>
          </a:p>
          <a:p>
            <a:r>
              <a:rPr lang="en-IN" sz="1600" dirty="0"/>
              <a:t>--------------------------------------------------------------------------------------------------------------------------------------</a:t>
            </a:r>
          </a:p>
          <a:p>
            <a:endParaRPr lang="en-IN" sz="1600" dirty="0"/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Use the Enriched Data as document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Used text splitter to split the document ( ChunkSize : 1000 (balanced granularity) ; Overlap : 100 )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As documents are individual for each endpoint, it is made sure that there is no overlap between the documents and overlap is within the documents.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Once Embedding are generated, they are stored in local to save compute and reuse quickly.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sz="1600" dirty="0"/>
              <a:t>FAISS is used as a vector store, which </a:t>
            </a:r>
            <a:r>
              <a:rPr lang="en-US" sz="1600" dirty="0"/>
              <a:t>is an open-source library designed for efficient similarity search and clustering of dense vectors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0240459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1E2EC5-EEC3-6014-71E6-AD3649FBE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556B-BCF8-05BA-EB00-1FA606636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429135" cy="1188720"/>
          </a:xfrm>
        </p:spPr>
        <p:txBody>
          <a:bodyPr/>
          <a:lstStyle/>
          <a:p>
            <a:r>
              <a:rPr lang="en-US" dirty="0"/>
              <a:t>Step-5 Retrieval and generation - Study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ED20EC-95E9-5FD6-5E5A-3FCBDA7877A8}"/>
              </a:ext>
            </a:extLst>
          </p:cNvPr>
          <p:cNvSpPr txBox="1"/>
          <p:nvPr/>
        </p:nvSpPr>
        <p:spPr>
          <a:xfrm>
            <a:off x="395416" y="1622114"/>
            <a:ext cx="7566442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Types of Retrieval and Generation approaches used for study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US" dirty="0"/>
              <a:t>Simple </a:t>
            </a:r>
            <a:r>
              <a:rPr lang="en-IN" dirty="0"/>
              <a:t>Ensemble Retrieval Search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IN" dirty="0"/>
              <a:t>Neighbourhood Expansion with Context Aggregation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IN" dirty="0"/>
              <a:t>Multi-Query Generation with BERT-Based Reranking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IN" dirty="0"/>
              <a:t>Recursive Retrieval-Generation with Self-Correction</a:t>
            </a:r>
          </a:p>
          <a:p>
            <a:pPr marL="285750" indent="-285750">
              <a:lnSpc>
                <a:spcPct val="200000"/>
              </a:lnSpc>
              <a:buFontTx/>
              <a:buChar char="-"/>
            </a:pPr>
            <a:r>
              <a:rPr lang="en-IN" dirty="0"/>
              <a:t>Dynamic Prompt Engineering with Query-Adaptive Optimization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891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F97D5E-6761-C425-6986-402510A70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6195C-CB57-BA26-1686-875778313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9429135" cy="1188720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Simple </a:t>
            </a:r>
            <a:r>
              <a:rPr lang="en-IN" dirty="0"/>
              <a:t>Ensemble Retrieval Search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D93B27-84BE-B330-35BE-5E23E7C239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0187"/>
            <a:ext cx="12192000" cy="5237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6161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457A28-3914-E680-2A57-8AB1679A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1718D-74EA-518A-44DF-829434B52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1887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/>
              <a:t>Neighbourhood Expansion with Context Aggregation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170F87-84FD-B4F3-3B84-8C15A4DF8E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512404"/>
            <a:ext cx="12096992" cy="401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094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8359A4-919B-D8ED-F53E-D2A6B200A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8CC94-E9D5-435E-56B6-748D6E8FC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1887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Multi-Query Generation with BERT-Based Reranking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1102F9-DA46-34D8-1F26-5CF3CFB97C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4424"/>
            <a:ext cx="12192000" cy="44291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401AFDA-D282-98C3-ECA6-CD99613F98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5413435"/>
            <a:ext cx="5331286" cy="1444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105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7A24C016-A251-DDAD-C8B0-1DF70F578B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53"/>
          <a:stretch>
            <a:fillRect/>
          </a:stretch>
        </p:blipFill>
        <p:spPr>
          <a:xfrm>
            <a:off x="3900668" y="0"/>
            <a:ext cx="7130005" cy="46414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4945F4-7AD2-F527-C3B5-C768E3FE8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59" y="5132612"/>
            <a:ext cx="11972081" cy="172538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B0DF17F-5DDD-1031-81CE-80B0CDC84507}"/>
              </a:ext>
            </a:extLst>
          </p:cNvPr>
          <p:cNvSpPr txBox="1"/>
          <p:nvPr/>
        </p:nvSpPr>
        <p:spPr>
          <a:xfrm>
            <a:off x="654779" y="648182"/>
            <a:ext cx="3245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Multi-Query Generation Prompt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00EE99-8037-6DFD-5609-F00D61B7EB18}"/>
              </a:ext>
            </a:extLst>
          </p:cNvPr>
          <p:cNvSpPr txBox="1"/>
          <p:nvPr/>
        </p:nvSpPr>
        <p:spPr>
          <a:xfrm>
            <a:off x="856527" y="4763280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5753249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19D0B-12C2-EB5E-29BF-3F89DD7BB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FBB52-E7A8-F933-B65D-86B4BC461F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18872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Recursive Retrieval-Generation with Self-Correction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101655F-BF17-67E9-ABB0-C15A6EAFFE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262731"/>
            <a:ext cx="12192000" cy="5595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955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4A89B1A-C201-4242-789C-374090F741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8314" y="0"/>
            <a:ext cx="9043686" cy="584490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1061C11-6091-F405-D980-AAAEEA4CCE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954889"/>
            <a:ext cx="12192000" cy="90311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2D586A1-2990-3586-44B5-2E0E6A58DE88}"/>
              </a:ext>
            </a:extLst>
          </p:cNvPr>
          <p:cNvSpPr txBox="1"/>
          <p:nvPr/>
        </p:nvSpPr>
        <p:spPr>
          <a:xfrm>
            <a:off x="629868" y="335665"/>
            <a:ext cx="25184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Gap Identification Query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53646DF-85A9-E4BA-930D-E8F8DAF225F8}"/>
              </a:ext>
            </a:extLst>
          </p:cNvPr>
          <p:cNvSpPr txBox="1"/>
          <p:nvPr/>
        </p:nvSpPr>
        <p:spPr>
          <a:xfrm>
            <a:off x="629868" y="5585557"/>
            <a:ext cx="1079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Response</a:t>
            </a:r>
          </a:p>
        </p:txBody>
      </p:sp>
    </p:spTree>
    <p:extLst>
      <p:ext uri="{BB962C8B-B14F-4D97-AF65-F5344CB8AC3E}">
        <p14:creationId xmlns:p14="http://schemas.microsoft.com/office/powerpoint/2010/main" val="34065627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54F17-6FD3-BF34-DEB1-322914B4A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E0A02-444E-8763-D5CA-E19BA8950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12192000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Dynamic Prompt Engineering with Query-Adaptive Optimization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CF5F145-2B8C-3B29-319A-7A9580E0A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200" y="1318224"/>
            <a:ext cx="10946830" cy="5539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2802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1F4746-CDB6-3637-4208-1B0AB3668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62" y="682906"/>
            <a:ext cx="11538238" cy="61750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D5A6E-043B-C86B-04C9-B8E234F6C5CA}"/>
              </a:ext>
            </a:extLst>
          </p:cNvPr>
          <p:cNvSpPr txBox="1"/>
          <p:nvPr/>
        </p:nvSpPr>
        <p:spPr>
          <a:xfrm>
            <a:off x="254643" y="313574"/>
            <a:ext cx="66412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Prompt used to generate System Prompt and User Message template</a:t>
            </a:r>
          </a:p>
        </p:txBody>
      </p:sp>
    </p:spTree>
    <p:extLst>
      <p:ext uri="{BB962C8B-B14F-4D97-AF65-F5344CB8AC3E}">
        <p14:creationId xmlns:p14="http://schemas.microsoft.com/office/powerpoint/2010/main" val="27397680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0BF3330-1FC1-3BFC-9FCF-801F6B7581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66035"/>
            <a:ext cx="12192000" cy="439137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B847A47-A96B-3043-8998-00946D02775F}"/>
              </a:ext>
            </a:extLst>
          </p:cNvPr>
          <p:cNvSpPr txBox="1"/>
          <p:nvPr/>
        </p:nvSpPr>
        <p:spPr>
          <a:xfrm>
            <a:off x="0" y="596703"/>
            <a:ext cx="39767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Dynamically generated System Prompt </a:t>
            </a:r>
          </a:p>
        </p:txBody>
      </p:sp>
    </p:spTree>
    <p:extLst>
      <p:ext uri="{BB962C8B-B14F-4D97-AF65-F5344CB8AC3E}">
        <p14:creationId xmlns:p14="http://schemas.microsoft.com/office/powerpoint/2010/main" val="22473662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FDC689-6B41-8E0D-9F87-6D33300ABF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5EAF051-65C8-ACF5-5F7D-8CD55E809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253" y="3429000"/>
            <a:ext cx="3626305" cy="33705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C6E44A-5001-AB41-080A-5133182C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58081" y="0"/>
            <a:ext cx="913391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CF8A147-75BA-B1BF-1BA3-8CFB96CAF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058082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LLM-as-a-judge</a:t>
            </a:r>
          </a:p>
        </p:txBody>
      </p:sp>
    </p:spTree>
    <p:extLst>
      <p:ext uri="{BB962C8B-B14F-4D97-AF65-F5344CB8AC3E}">
        <p14:creationId xmlns:p14="http://schemas.microsoft.com/office/powerpoint/2010/main" val="5552545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7502C147-6C8C-3BC5-8208-65CC67A6D4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422" y="0"/>
            <a:ext cx="8615578" cy="68580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011DFAC-661A-CBA4-CCBD-C8710B6AA43C}"/>
              </a:ext>
            </a:extLst>
          </p:cNvPr>
          <p:cNvSpPr txBox="1"/>
          <p:nvPr/>
        </p:nvSpPr>
        <p:spPr>
          <a:xfrm>
            <a:off x="458453" y="432486"/>
            <a:ext cx="31179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Query used for LLM Evaluation</a:t>
            </a:r>
          </a:p>
        </p:txBody>
      </p:sp>
    </p:spTree>
    <p:extLst>
      <p:ext uri="{BB962C8B-B14F-4D97-AF65-F5344CB8AC3E}">
        <p14:creationId xmlns:p14="http://schemas.microsoft.com/office/powerpoint/2010/main" val="21194223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456A36B-EDC3-8A51-3D54-13AA97234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9B0B025-476A-5BF1-678A-7751B839DE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942" y="0"/>
            <a:ext cx="1051811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2BFB8FE-5F2A-3E4E-F72F-2DB8363A4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058082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41436027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B996B2-881D-D3D5-E2A1-C13CFD6F4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02D0B-6E04-76B9-2B9D-79E10E645E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058082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EB2D528-B698-77B1-5C1F-8351EDB8C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371600"/>
            <a:ext cx="112014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52464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D80D6BC-E24A-3B88-3207-2320B9278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8079DA-54E5-BA78-DE17-E3A75A8B23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1729"/>
          <a:stretch>
            <a:fillRect/>
          </a:stretch>
        </p:blipFill>
        <p:spPr>
          <a:xfrm>
            <a:off x="1253995" y="1495168"/>
            <a:ext cx="9942009" cy="53628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A2E6CA4-6C67-7287-9317-C2D005B306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058082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1582293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CC5437-69AD-9698-0313-93C84271F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DA1B9-2FA5-19F2-B875-04574FBEFF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2792628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Comparison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FFDB998-B614-E0BE-CAAC-4BFFDAAA6C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423"/>
            <a:ext cx="12192000" cy="47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3068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842E63-2168-C79B-9009-2C2359CDE9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F3786-7FD7-5065-0986-521D7AB949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0"/>
            <a:ext cx="3805882" cy="1188720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IN" sz="2400" dirty="0"/>
              <a:t>Final RAG Pipeline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B2E2BA-3146-8E86-CFAD-D9BAF81A9A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23499"/>
            <a:ext cx="12192000" cy="5337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2571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681918-F3DD-EC22-13A3-D7C69891C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7644F37-D1C1-E66E-F9CC-BF67AC2BD9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IN" sz="5000" dirty="0"/>
              <a:t>[ DEMO ]</a:t>
            </a:r>
          </a:p>
        </p:txBody>
      </p:sp>
    </p:spTree>
    <p:extLst>
      <p:ext uri="{BB962C8B-B14F-4D97-AF65-F5344CB8AC3E}">
        <p14:creationId xmlns:p14="http://schemas.microsoft.com/office/powerpoint/2010/main" val="596560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4167985-D6E9-40FF-97C0-4B6D373E85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68" y="640080"/>
            <a:ext cx="10911865" cy="4626864"/>
          </a:xfrm>
          <a:prstGeom prst="rect">
            <a:avLst/>
          </a:prstGeom>
          <a:noFill/>
          <a:ln w="317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801362-349C-44BE-BEF6-8E926E1D3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6196" y="804672"/>
            <a:ext cx="10579608" cy="4297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B494BA-2DA5-F9D2-F762-7B6583ABE5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62729" y="1289303"/>
            <a:ext cx="9638443" cy="3339303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 sz="5000" dirty="0"/>
              <a:t>THANK YOU!</a:t>
            </a:r>
            <a:endParaRPr lang="en-IN" sz="5000" dirty="0"/>
          </a:p>
        </p:txBody>
      </p:sp>
    </p:spTree>
    <p:extLst>
      <p:ext uri="{BB962C8B-B14F-4D97-AF65-F5344CB8AC3E}">
        <p14:creationId xmlns:p14="http://schemas.microsoft.com/office/powerpoint/2010/main" val="195996148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777</TotalTime>
  <Words>661</Words>
  <Application>Microsoft Office PowerPoint</Application>
  <PresentationFormat>Widescreen</PresentationFormat>
  <Paragraphs>131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Aptos</vt:lpstr>
      <vt:lpstr>Arial</vt:lpstr>
      <vt:lpstr>Calibri</vt:lpstr>
      <vt:lpstr>Comic Sans MS</vt:lpstr>
      <vt:lpstr>Consolas</vt:lpstr>
      <vt:lpstr>Gill Sans MT</vt:lpstr>
      <vt:lpstr>Parcel</vt:lpstr>
      <vt:lpstr>A RAG-Powered Chatbot for CyberArk API Documentation</vt:lpstr>
      <vt:lpstr>Architecture Diagram</vt:lpstr>
      <vt:lpstr>Step-1 : Data Collection </vt:lpstr>
      <vt:lpstr>Step-2 Data Processing</vt:lpstr>
      <vt:lpstr>Step-3 Data Enrichment </vt:lpstr>
      <vt:lpstr>PowerPoint Presentation</vt:lpstr>
      <vt:lpstr>Step-4 Embedding</vt:lpstr>
      <vt:lpstr>Step-4 Embedding</vt:lpstr>
      <vt:lpstr>Step-5 Retrieval and generation - Study</vt:lpstr>
      <vt:lpstr>Simple Ensemble Retrieval Search</vt:lpstr>
      <vt:lpstr>Neighbourhood Expansion with Context Aggregation</vt:lpstr>
      <vt:lpstr>Multi-Query Generation with BERT-Based Reranking</vt:lpstr>
      <vt:lpstr>PowerPoint Presentation</vt:lpstr>
      <vt:lpstr>Recursive Retrieval-Generation with Self-Correction</vt:lpstr>
      <vt:lpstr>PowerPoint Presentation</vt:lpstr>
      <vt:lpstr>Dynamic Prompt Engineering with Query-Adaptive Optimization</vt:lpstr>
      <vt:lpstr>PowerPoint Presentation</vt:lpstr>
      <vt:lpstr>PowerPoint Presentation</vt:lpstr>
      <vt:lpstr>LLM-as-a-judge</vt:lpstr>
      <vt:lpstr>PowerPoint Presentation</vt:lpstr>
      <vt:lpstr>Results</vt:lpstr>
      <vt:lpstr>Results</vt:lpstr>
      <vt:lpstr>Results</vt:lpstr>
      <vt:lpstr>Comparison</vt:lpstr>
      <vt:lpstr>Final RAG Pipeline</vt:lpstr>
      <vt:lpstr>[ DEMO ]</vt:lpstr>
      <vt:lpstr>THANK YOU!</vt:lpstr>
    </vt:vector>
  </TitlesOfParts>
  <Company>CyberArk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Venkata Thrivedi Saya</dc:creator>
  <cp:lastModifiedBy>Venkata Thrivedi Saya</cp:lastModifiedBy>
  <cp:revision>8</cp:revision>
  <dcterms:created xsi:type="dcterms:W3CDTF">2025-07-09T01:03:00Z</dcterms:created>
  <dcterms:modified xsi:type="dcterms:W3CDTF">2025-08-23T10:23:33Z</dcterms:modified>
</cp:coreProperties>
</file>